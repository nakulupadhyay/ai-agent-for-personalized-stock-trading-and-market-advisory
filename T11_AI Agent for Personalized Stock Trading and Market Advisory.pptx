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9E09BBB-0D1D-447D-94E7-75E7867EC4FA}">
          <p14:sldIdLst>
            <p14:sldId id="256"/>
            <p14:sldId id="257"/>
          </p14:sldIdLst>
        </p14:section>
        <p14:section name="Untitled Section" id="{6984F3E5-0EC8-4676-82BB-ECACF2EC56F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79" d="100"/>
          <a:sy n="79" d="100"/>
        </p:scale>
        <p:origin x="59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20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7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932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57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75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379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4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403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25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216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9013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61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4657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192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389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634CB-F4C2-4A53-9467-6BFC69E62F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97D886-3DE1-4145-B9CC-9AE3DDFF6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5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AB89-1D9B-52AE-D4D0-494EF497E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1775" y="231520"/>
            <a:ext cx="9144000" cy="1523717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>AI Agent for Personalized Stock</a:t>
            </a:r>
            <a:br>
              <a:rPr lang="en-US" sz="4800" b="1" dirty="0"/>
            </a:br>
            <a:r>
              <a:rPr lang="en-US" sz="4800" b="1" dirty="0"/>
              <a:t>Trading and Market Advisory</a:t>
            </a:r>
            <a:endParaRPr lang="en-IN" sz="48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0119DD-C3F3-CDC4-B490-CE2ECB0BC999}"/>
              </a:ext>
            </a:extLst>
          </p:cNvPr>
          <p:cNvSpPr/>
          <p:nvPr/>
        </p:nvSpPr>
        <p:spPr>
          <a:xfrm>
            <a:off x="4730455" y="1976716"/>
            <a:ext cx="6550171" cy="1937801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Presented by:          </a:t>
            </a:r>
          </a:p>
          <a:p>
            <a:r>
              <a:rPr lang="en-IN" dirty="0"/>
              <a:t>    Fluffy Debuggers (T11)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B.Tech</a:t>
            </a:r>
            <a:r>
              <a:rPr lang="en-IN" dirty="0"/>
              <a:t> CSE (AIML &amp; IoT) – GLA University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DD320C-5373-2D27-C576-70F5FF5441C6}"/>
              </a:ext>
            </a:extLst>
          </p:cNvPr>
          <p:cNvSpPr/>
          <p:nvPr/>
        </p:nvSpPr>
        <p:spPr>
          <a:xfrm>
            <a:off x="4929281" y="4196552"/>
            <a:ext cx="5958740" cy="23374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Team Members:</a:t>
            </a:r>
          </a:p>
          <a:p>
            <a:r>
              <a:rPr lang="en-IN" dirty="0"/>
              <a:t>	Nakul Upadhyay</a:t>
            </a:r>
          </a:p>
          <a:p>
            <a:r>
              <a:rPr lang="en-IN" dirty="0"/>
              <a:t>	Priyam Kumar</a:t>
            </a:r>
          </a:p>
          <a:p>
            <a:r>
              <a:rPr lang="en-IN" dirty="0"/>
              <a:t>	Yuvraj Upadhyay</a:t>
            </a:r>
          </a:p>
          <a:p>
            <a:endParaRPr lang="en-IN" dirty="0"/>
          </a:p>
          <a:p>
            <a:r>
              <a:rPr lang="en-IN" dirty="0"/>
              <a:t>Mentor:</a:t>
            </a:r>
          </a:p>
          <a:p>
            <a:r>
              <a:rPr lang="en-IN" dirty="0"/>
              <a:t>	 Mr. </a:t>
            </a:r>
            <a:r>
              <a:rPr lang="en-IN" dirty="0" err="1"/>
              <a:t>Preshit</a:t>
            </a:r>
            <a:r>
              <a:rPr lang="en-IN" dirty="0"/>
              <a:t> Mangesh Desai</a:t>
            </a:r>
          </a:p>
        </p:txBody>
      </p:sp>
    </p:spTree>
    <p:extLst>
      <p:ext uri="{BB962C8B-B14F-4D97-AF65-F5344CB8AC3E}">
        <p14:creationId xmlns:p14="http://schemas.microsoft.com/office/powerpoint/2010/main" val="195655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44EF-EF4A-4B45-A306-9F450BA7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780" y="732788"/>
            <a:ext cx="4572895" cy="684230"/>
          </a:xfrm>
        </p:spPr>
        <p:txBody>
          <a:bodyPr>
            <a:normAutofit/>
          </a:bodyPr>
          <a:lstStyle/>
          <a:p>
            <a:r>
              <a:rPr lang="en-IN" sz="3600" b="1" dirty="0"/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9133E46-A654-FC5B-DC9D-3BBCA6307C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7863" y="1985760"/>
            <a:ext cx="9100568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 investors struggle to make informed trading decisions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data is fragmented across multiple platforms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overload leads to confusion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platforms focus on execution rather than guidance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personalized and explainable advisory system</a:t>
            </a:r>
          </a:p>
        </p:txBody>
      </p:sp>
    </p:spTree>
    <p:extLst>
      <p:ext uri="{BB962C8B-B14F-4D97-AF65-F5344CB8AC3E}">
        <p14:creationId xmlns:p14="http://schemas.microsoft.com/office/powerpoint/2010/main" val="126009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DF2EDA-91AC-F386-B44B-9BD1B6A6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7" y="175614"/>
            <a:ext cx="8596668" cy="797180"/>
          </a:xfrm>
        </p:spPr>
        <p:txBody>
          <a:bodyPr>
            <a:normAutofit/>
          </a:bodyPr>
          <a:lstStyle/>
          <a:p>
            <a:r>
              <a:rPr lang="en-IN" sz="3600" b="1" dirty="0"/>
              <a:t>Objectives &amp; Project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6BCDC-A744-8EFE-137B-0676BA456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6387" y="1360353"/>
            <a:ext cx="8596668" cy="473766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Goal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an AI-powered system providing personalized buy/sell/hold recommendations.</a:t>
            </a:r>
          </a:p>
          <a:p>
            <a:endParaRPr lang="en-US" dirty="0"/>
          </a:p>
          <a:p>
            <a:r>
              <a:rPr lang="en-US" sz="2800" b="1" dirty="0">
                <a:solidFill>
                  <a:schemeClr val="tx1"/>
                </a:solidFill>
              </a:rPr>
              <a:t>Objectives</a:t>
            </a:r>
            <a:endParaRPr lang="en-US" sz="28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historical and real-time stock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news and sentiment analysis.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risk-aware recommendations.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decision-making using AI insights.</a:t>
            </a:r>
          </a:p>
        </p:txBody>
      </p:sp>
    </p:spTree>
    <p:extLst>
      <p:ext uri="{BB962C8B-B14F-4D97-AF65-F5344CB8AC3E}">
        <p14:creationId xmlns:p14="http://schemas.microsoft.com/office/powerpoint/2010/main" val="3177431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390A-DE05-D69E-0E7A-662012720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317648"/>
            <a:ext cx="4796426" cy="860399"/>
          </a:xfrm>
        </p:spPr>
        <p:txBody>
          <a:bodyPr>
            <a:normAutofit/>
          </a:bodyPr>
          <a:lstStyle/>
          <a:p>
            <a:r>
              <a:rPr lang="en-IN" sz="3600" b="1" dirty="0"/>
              <a:t>Technical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CAD2A5-8C20-ED7D-BB61-D2E79060A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7863" y="1471518"/>
            <a:ext cx="9441093" cy="4493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from stock market APIs and news sources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 and feature extraction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 for prediction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NLP-based sentiment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generates recommendation with confidence score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displayed through dashboard</a:t>
            </a:r>
          </a:p>
        </p:txBody>
      </p:sp>
    </p:spTree>
    <p:extLst>
      <p:ext uri="{BB962C8B-B14F-4D97-AF65-F5344CB8AC3E}">
        <p14:creationId xmlns:p14="http://schemas.microsoft.com/office/powerpoint/2010/main" val="779654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1CCF-70EF-4F05-F90F-EE2EB466E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761" y="284614"/>
            <a:ext cx="5414627" cy="621568"/>
          </a:xfrm>
        </p:spPr>
        <p:txBody>
          <a:bodyPr>
            <a:noAutofit/>
          </a:bodyPr>
          <a:lstStyle/>
          <a:p>
            <a:r>
              <a:rPr lang="en-IN" sz="3600" b="1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2E837-A186-4834-864A-271A43290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073" y="982525"/>
            <a:ext cx="7811760" cy="536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32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6138-3B85-3B7E-AF65-1F2D1FDA5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575" y="112028"/>
            <a:ext cx="4402442" cy="635841"/>
          </a:xfrm>
        </p:spPr>
        <p:txBody>
          <a:bodyPr/>
          <a:lstStyle/>
          <a:p>
            <a:r>
              <a:rPr lang="en-US" sz="3600" b="1" dirty="0"/>
              <a:t>System </a:t>
            </a:r>
            <a:r>
              <a:rPr lang="en-IN" sz="3600" b="1" dirty="0"/>
              <a:t>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F238F-448E-B74A-E62A-72D7361CF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16" y="823564"/>
            <a:ext cx="5177564" cy="560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4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34D5-C79E-E472-3501-B1268D3DA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09764"/>
            <a:ext cx="3422327" cy="722638"/>
          </a:xfrm>
        </p:spPr>
        <p:txBody>
          <a:bodyPr/>
          <a:lstStyle/>
          <a:p>
            <a:r>
              <a:rPr lang="en-IN" b="1" dirty="0"/>
              <a:t>Key Features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07F521-31D7-3FEA-9C78-3EE7972D12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446914"/>
            <a:ext cx="5705300" cy="406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stock recommendations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visualization dashboard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risk assessment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alerts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 sentiment analysis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confidence score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 trading simulation</a:t>
            </a:r>
          </a:p>
        </p:txBody>
      </p:sp>
    </p:spTree>
    <p:extLst>
      <p:ext uri="{BB962C8B-B14F-4D97-AF65-F5344CB8AC3E}">
        <p14:creationId xmlns:p14="http://schemas.microsoft.com/office/powerpoint/2010/main" val="81163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DA0B-1D5E-3D01-B64B-0678071E8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32" y="582487"/>
            <a:ext cx="5584187" cy="734750"/>
          </a:xfrm>
        </p:spPr>
        <p:txBody>
          <a:bodyPr/>
          <a:lstStyle/>
          <a:p>
            <a:r>
              <a:rPr lang="en-IN" b="1" dirty="0"/>
              <a:t>Uniqueness &amp; Innovation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240D5F-61D5-A3E1-0125-DF4312D6C3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332" y="1306747"/>
            <a:ext cx="9262472" cy="382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AI recommendations based on risk profile.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score for explainable AI decisions.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market data + sentiment analysis.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Educational decision-support system (not automated trading).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analytics with simplified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09017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E6F5-46E9-4926-3D0A-71B812499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972" y="633822"/>
            <a:ext cx="5620521" cy="649972"/>
          </a:xfrm>
        </p:spPr>
        <p:txBody>
          <a:bodyPr/>
          <a:lstStyle/>
          <a:p>
            <a:r>
              <a:rPr lang="en-IN" b="1" dirty="0"/>
              <a:t>Weekly Project Timeline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FE7DC1-C077-EE0F-47B2-3043BBA0C6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2188241"/>
              </p:ext>
            </p:extLst>
          </p:nvPr>
        </p:nvGraphicFramePr>
        <p:xfrm>
          <a:off x="665750" y="1695575"/>
          <a:ext cx="8980866" cy="390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433">
                  <a:extLst>
                    <a:ext uri="{9D8B030D-6E8A-4147-A177-3AD203B41FA5}">
                      <a16:colId xmlns:a16="http://schemas.microsoft.com/office/drawing/2014/main" val="763364681"/>
                    </a:ext>
                  </a:extLst>
                </a:gridCol>
                <a:gridCol w="4490433">
                  <a:extLst>
                    <a:ext uri="{9D8B030D-6E8A-4147-A177-3AD203B41FA5}">
                      <a16:colId xmlns:a16="http://schemas.microsoft.com/office/drawing/2014/main" val="1850402299"/>
                    </a:ext>
                  </a:extLst>
                </a:gridCol>
              </a:tblGrid>
              <a:tr h="5242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08640"/>
                  </a:ext>
                </a:extLst>
              </a:tr>
              <a:tr h="7595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IN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Requirement analysis &amp; architecture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798820"/>
                  </a:ext>
                </a:extLst>
              </a:tr>
              <a:tr h="524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3-4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&amp; frontend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515352"/>
                  </a:ext>
                </a:extLst>
              </a:tr>
              <a:tr h="524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ML model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513270"/>
                  </a:ext>
                </a:extLst>
              </a:tr>
              <a:tr h="524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201030"/>
                  </a:ext>
                </a:extLst>
              </a:tr>
              <a:tr h="524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Testing &amp; 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825323"/>
                  </a:ext>
                </a:extLst>
              </a:tr>
              <a:tr h="524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Deployment &amp;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398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294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38D2-B5CE-AB98-BF0E-7A018B42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6304806" cy="698416"/>
          </a:xfrm>
        </p:spPr>
        <p:txBody>
          <a:bodyPr/>
          <a:lstStyle/>
          <a:p>
            <a:r>
              <a:rPr lang="en-IN" b="1" dirty="0"/>
              <a:t>Team Member Contributions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3CEAD9FB-E9AB-1294-C356-F5C00C891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584898"/>
              </p:ext>
            </p:extLst>
          </p:nvPr>
        </p:nvGraphicFramePr>
        <p:xfrm>
          <a:off x="677334" y="1725854"/>
          <a:ext cx="8596311" cy="3942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93014343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95977157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543930420"/>
                    </a:ext>
                  </a:extLst>
                </a:gridCol>
              </a:tblGrid>
              <a:tr h="94392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Nakul Upadhyay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Priyam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Yuvraj Upadhyay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885906"/>
                  </a:ext>
                </a:extLst>
              </a:tr>
              <a:tr h="943929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r>
                        <a:rPr lang="en-IN" dirty="0" err="1"/>
                        <a:t>rontend</a:t>
                      </a:r>
                      <a:r>
                        <a:rPr lang="en-IN" dirty="0"/>
                        <a:t>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ML model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827951"/>
                  </a:ext>
                </a:extLst>
              </a:tr>
              <a:tr h="943929">
                <a:tc>
                  <a:txBody>
                    <a:bodyPr/>
                    <a:lstStyle/>
                    <a:p>
                      <a:r>
                        <a:rPr lang="en-IN" dirty="0"/>
                        <a:t>UI/UX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Database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preprocessing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556517"/>
                  </a:ext>
                </a:extLst>
              </a:tr>
              <a:tr h="1110427">
                <a:tc>
                  <a:txBody>
                    <a:bodyPr/>
                    <a:lstStyle/>
                    <a:p>
                      <a:r>
                        <a:rPr lang="en-IN" dirty="0"/>
                        <a:t>Integration &amp;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Authentication &amp;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integration &amp;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58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086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3276-BDAD-E04E-094F-3CED295EC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23" y="579322"/>
            <a:ext cx="6256361" cy="813473"/>
          </a:xfrm>
        </p:spPr>
        <p:txBody>
          <a:bodyPr/>
          <a:lstStyle/>
          <a:p>
            <a:r>
              <a:rPr lang="en-IN" b="1" dirty="0"/>
              <a:t>Results, Quality &amp; Testing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A7002D-54F6-1ABC-E1AF-D74A552E52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0278" y="1579251"/>
            <a:ext cx="8165249" cy="382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prediction accuracy target ≥ 80%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response time ≤ 1200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availability ≥ 99%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 testing, API testing, and ML validation performed.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testing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2727244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6E5D-E10E-426E-119E-3ADB02B1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22" y="213966"/>
            <a:ext cx="5911191" cy="728694"/>
          </a:xfrm>
        </p:spPr>
        <p:txBody>
          <a:bodyPr/>
          <a:lstStyle/>
          <a:p>
            <a:r>
              <a:rPr lang="en-IN" b="1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6F29E-AB61-8DD9-9009-30A66E11F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17181"/>
            <a:ext cx="8596668" cy="506250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700" b="1" dirty="0"/>
              <a:t>Conclusion</a:t>
            </a:r>
            <a:endParaRPr lang="en-IN" sz="2700" dirty="0"/>
          </a:p>
          <a:p>
            <a:pPr lvl="1"/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AI-based advisory platform simplifies investment decisions.</a:t>
            </a:r>
          </a:p>
          <a:p>
            <a:pPr lvl="1"/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Combines ML predictions with sentiment insights.</a:t>
            </a:r>
          </a:p>
          <a:p>
            <a:pPr lvl="1"/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Provides personalized and explainable recommendations.</a:t>
            </a:r>
          </a:p>
          <a:p>
            <a:endParaRPr lang="en-IN" sz="2700" b="1" dirty="0"/>
          </a:p>
          <a:p>
            <a:pPr marL="0" indent="0">
              <a:buNone/>
            </a:pPr>
            <a:r>
              <a:rPr lang="en-IN" sz="2700" b="1" dirty="0"/>
              <a:t>Future Scope</a:t>
            </a:r>
          </a:p>
          <a:p>
            <a:pPr lvl="1"/>
            <a:r>
              <a:rPr lang="en-IN" sz="2700" dirty="0">
                <a:latin typeface="Arial" panose="020B0604020202020204" pitchFamily="34" charset="0"/>
                <a:cs typeface="Arial" panose="020B0604020202020204" pitchFamily="34" charset="0"/>
              </a:rPr>
              <a:t>Advanced deep learning models (LSTM/Transformers)</a:t>
            </a:r>
          </a:p>
          <a:p>
            <a:pPr lvl="1"/>
            <a:r>
              <a:rPr lang="en-IN" sz="2700" dirty="0">
                <a:latin typeface="Arial" panose="020B0604020202020204" pitchFamily="34" charset="0"/>
                <a:cs typeface="Arial" panose="020B0604020202020204" pitchFamily="34" charset="0"/>
              </a:rPr>
              <a:t>Mobile application support</a:t>
            </a:r>
          </a:p>
          <a:p>
            <a:pPr lvl="1"/>
            <a:r>
              <a:rPr lang="en-IN" sz="2700" dirty="0">
                <a:latin typeface="Arial" panose="020B0604020202020204" pitchFamily="34" charset="0"/>
                <a:cs typeface="Arial" panose="020B0604020202020204" pitchFamily="34" charset="0"/>
              </a:rPr>
              <a:t>Improved personalization</a:t>
            </a:r>
          </a:p>
          <a:p>
            <a:pPr lvl="1"/>
            <a:r>
              <a:rPr lang="en-IN" sz="2700" dirty="0">
                <a:latin typeface="Arial" panose="020B0604020202020204" pitchFamily="34" charset="0"/>
                <a:cs typeface="Arial" panose="020B0604020202020204" pitchFamily="34" charset="0"/>
              </a:rPr>
              <a:t>Integration with more financial datasets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46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A989-1C43-960C-0E35-D9D048FF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36" y="812968"/>
            <a:ext cx="11196857" cy="5522734"/>
          </a:xfrm>
        </p:spPr>
        <p:txBody>
          <a:bodyPr>
            <a:normAutofit/>
          </a:bodyPr>
          <a:lstStyle/>
          <a:p>
            <a:pPr algn="ctr"/>
            <a:br>
              <a:rPr lang="en-US" sz="9600" dirty="0">
                <a:latin typeface="Algerian" panose="04020705040A02060702" pitchFamily="82" charset="0"/>
              </a:rPr>
            </a:br>
            <a:r>
              <a:rPr lang="en-US" sz="12300" dirty="0">
                <a:latin typeface="Algerian" panose="04020705040A02060702" pitchFamily="82" charset="0"/>
              </a:rPr>
              <a:t>THANK YOU</a:t>
            </a:r>
            <a:endParaRPr lang="en-IN" sz="123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3791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</TotalTime>
  <Words>388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Trebuchet MS</vt:lpstr>
      <vt:lpstr>Wingdings</vt:lpstr>
      <vt:lpstr>Wingdings 3</vt:lpstr>
      <vt:lpstr>Facet</vt:lpstr>
      <vt:lpstr>AI Agent for Personalized Stock Trading and Market Advisory</vt:lpstr>
      <vt:lpstr>Problem Statement</vt:lpstr>
      <vt:lpstr>Objectives &amp; Project Overview</vt:lpstr>
      <vt:lpstr>Technical Approach</vt:lpstr>
      <vt:lpstr>System Architecture</vt:lpstr>
      <vt:lpstr>System Workflow</vt:lpstr>
      <vt:lpstr>Key Features</vt:lpstr>
      <vt:lpstr>Uniqueness &amp; Innovation</vt:lpstr>
      <vt:lpstr>Weekly Project Timeline</vt:lpstr>
      <vt:lpstr>Team Member Contributions</vt:lpstr>
      <vt:lpstr>Results, Quality &amp; Testing</vt:lpstr>
      <vt:lpstr>Conclusion &amp; Future Scope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 Saini</dc:creator>
  <cp:lastModifiedBy>Subh Saini</cp:lastModifiedBy>
  <cp:revision>2</cp:revision>
  <dcterms:created xsi:type="dcterms:W3CDTF">2026-02-07T05:13:32Z</dcterms:created>
  <dcterms:modified xsi:type="dcterms:W3CDTF">2026-02-07T06:43:04Z</dcterms:modified>
</cp:coreProperties>
</file>